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7" r:id="rId5"/>
    <p:sldId id="27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5" r:id="rId18"/>
    <p:sldId id="271" r:id="rId19"/>
    <p:sldId id="272" r:id="rId20"/>
    <p:sldId id="273" r:id="rId21"/>
    <p:sldId id="274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97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project report: journey-level attribution, budget reallocation, and 7-day conversion propensity.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for the 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Last-Touch gives 100% credit to the final channel and ignores everything before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586,737 raw rows cleaned to 582,592; 232,648 modeled journeys at a 4.38% conversion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stages: journey reconstruction, Markov attribution, budget simulation, propensity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simplified 50-customer example — same logic as the transition matrix, worked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customers by channel and count where they went next — that is the transition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routes reach conversion from Facebook: multiply the probabilities along each path, then add the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Instagram, redistribute its share, and Facebook's conversion probability falls from 65% to 50% — a removal effect of 23.08%.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for every channel — a bigger drop means a more important channel. This is the exact mechanism behind the attribution numbers shown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explicit leakage controls; this is what makes the performance estimate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finding: Instagram under-credited by 4.2 points, Online Video over-credited by 3.9.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$100k monthly, shift $4,224 to Instagram and $3,949 away from Online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models comparable; Logistic Regression selected on validation PR-AUC. Well-calibrated.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Pipeline, API, dashboard, database, tests, Docker and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issues encountered and how each was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Observational, not causal; modest PR-AUC given a rare event and exposure-only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Conversions build across the whole journey, not a single decisive touchpoint.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E607A">
                  <a:alpha val="100000"/>
                </a:srgbClr>
              </a:gs>
              <a:gs pos="45000">
                <a:srgbClr val="44546A">
                  <a:alpha val="100000"/>
                </a:srgbClr>
              </a:gs>
              <a:gs pos="100000">
                <a:srgbClr val="39465A">
                  <a:alpha val="100000"/>
                </a:srgbClr>
              </a:gs>
            </a:gsLst>
            <a:path path="circle">
              <a:fillToRect l="15000" r="85000" b="10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FFC000">
                  <a:alpha val="12000"/>
                </a:srgbClr>
              </a:gs>
              <a:gs pos="70000">
                <a:srgbClr val="FFC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524000" y="70485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4472C4">
                  <a:alpha val="16000"/>
                </a:srgbClr>
              </a:gs>
              <a:gs pos="70000">
                <a:srgbClr val="4472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33500" y="2710815"/>
            <a:ext cx="1143000" cy="7620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33500" y="3320415"/>
            <a:ext cx="13735050" cy="1958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301"/>
              </a:lnSpc>
              <a:buNone/>
            </a:pPr>
            <a:r>
              <a:rPr lang="en-US" sz="7200" kern="0" spc="-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Attribution &amp; Budget Intelligence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333500" y="5583555"/>
            <a:ext cx="12263438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27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Journey-level attribution, fixed-spend budget reallocation, and 7-day conversion propensity prediction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33500" y="7271385"/>
            <a:ext cx="36532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 Kumar Raju — 101589631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188029" y="7271385"/>
            <a:ext cx="56258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Muthu Kumaran Lakshmi Narayanan — 101545626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33500" y="250698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33500" y="3145155"/>
            <a:ext cx="4381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905000" y="3107055"/>
            <a:ext cx="236870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6730961" y="3145155"/>
            <a:ext cx="4381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302461" y="3107055"/>
            <a:ext cx="9339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128421" y="3145155"/>
            <a:ext cx="4381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699921" y="3107055"/>
            <a:ext cx="16614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333500" y="3869055"/>
            <a:ext cx="4381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905000" y="3830955"/>
            <a:ext cx="37611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Markov attribution works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6730961" y="3869055"/>
            <a:ext cx="4381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302461" y="3830955"/>
            <a:ext cx="22356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results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2128421" y="3869055"/>
            <a:ext cx="4381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2699921" y="3830955"/>
            <a:ext cx="22377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simulation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333500" y="4592955"/>
            <a:ext cx="4381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905000" y="4554855"/>
            <a:ext cx="36117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propensity model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6730961" y="4592955"/>
            <a:ext cx="4381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7302461" y="4554855"/>
            <a:ext cx="34051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pipeline &amp; API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2128421" y="4592955"/>
            <a:ext cx="4381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2699921" y="4554855"/>
            <a:ext cx="42298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limitations, conclusion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JOURNEY-LEVEL ATTRIBUTION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33500" y="250698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33500" y="3068955"/>
            <a:ext cx="14716125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52"/>
              </a:lnSpc>
              <a:buNone/>
            </a:pPr>
            <a:r>
              <a:rPr lang="en-US" sz="3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 attribution assigns </a:t>
            </a:r>
            <a:r>
              <a:rPr lang="en-US" sz="30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the credit </a:t>
            </a:r>
            <a:r>
              <a:rPr lang="en-US" sz="3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conversion to whichever channel a customer interacted with immediately before converting, ignoring every earlier touchpoint.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33500" y="4554855"/>
            <a:ext cx="142255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449"/>
              </a:lnSpc>
              <a:buNone/>
            </a:pPr>
            <a:r>
              <a:rPr lang="en-US" sz="24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asks whether a journey-aware method produces a materially different, and fairer, picture of channel performance — and what that difference implies for how a marketing budget should be allocated.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33500" y="8694420"/>
            <a:ext cx="1526619" cy="624840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581150" y="8846820"/>
            <a:ext cx="11075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069669" y="8846820"/>
            <a:ext cx="31765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520678" y="8694420"/>
            <a:ext cx="1571625" cy="624840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68328" y="8846820"/>
            <a:ext cx="11525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301853" y="8846820"/>
            <a:ext cx="31765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752862" y="8694420"/>
            <a:ext cx="1741765" cy="624840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00512" y="8846820"/>
            <a:ext cx="13226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704177" y="8846820"/>
            <a:ext cx="31765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155186" y="8694420"/>
            <a:ext cx="1893570" cy="624840"/>
          </a:xfrm>
          <a:prstGeom prst="roundRect">
            <a:avLst>
              <a:gd name="adj" fmla="val 3049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402836" y="8846820"/>
            <a:ext cx="147447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Video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258306" y="8846820"/>
            <a:ext cx="31765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709315" y="8679180"/>
            <a:ext cx="1729621" cy="655320"/>
          </a:xfrm>
          <a:prstGeom prst="roundRect">
            <a:avLst>
              <a:gd name="adj" fmla="val 2907"/>
            </a:avLst>
          </a:prstGeom>
          <a:ln w="1524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972205" y="8846820"/>
            <a:ext cx="128004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877086" y="8865870"/>
            <a:ext cx="440565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 credits only the highlighted step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33500" y="250698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0" name="Line200"/>
          <p:cNvSpPr/>
          <p:nvPr/>
        </p:nvSpPr>
        <p:spPr>
          <a:xfrm>
            <a:off x="1333500" y="3030855"/>
            <a:ext cx="3676650" cy="533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1" name="Num201"/>
          <p:cNvSpPr/>
          <p:nvPr/>
        </p:nvSpPr>
        <p:spPr>
          <a:xfrm>
            <a:off x="1333500" y="3350895"/>
            <a:ext cx="370522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02" name="Title202"/>
          <p:cNvSpPr/>
          <p:nvPr/>
        </p:nvSpPr>
        <p:spPr>
          <a:xfrm>
            <a:off x="1333500" y="3728085"/>
            <a:ext cx="370522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available projects</a:t>
            </a:r>
            <a:endParaRPr lang="en-US" sz="2550" dirty="0"/>
          </a:p>
        </p:txBody>
      </p:sp>
      <p:sp>
        <p:nvSpPr>
          <p:cNvPr id="203" name="Body203"/>
          <p:cNvSpPr/>
          <p:nvPr/>
        </p:nvSpPr>
        <p:spPr>
          <a:xfrm>
            <a:off x="1333500" y="4307205"/>
            <a:ext cx="3705225" cy="4906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 / First-Touch attribution - the long-standing default in tools like Google Analytics</a:t>
            </a: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endParaRPr lang="en-US" sz="2000" dirty="0">
              <a:solidFill>
                <a:srgbClr val="6B76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multi-touch models (Linear, Position-Based, Time-Decay) used in enterprise marketing platforms</a:t>
            </a: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endParaRPr lang="en-US" sz="2000" dirty="0">
              <a:solidFill>
                <a:srgbClr val="6B76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 attribution -the academic gold standard for fairness</a:t>
            </a:r>
          </a:p>
        </p:txBody>
      </p:sp>
      <p:sp>
        <p:nvSpPr>
          <p:cNvPr id="204" name="Line204"/>
          <p:cNvSpPr/>
          <p:nvPr/>
        </p:nvSpPr>
        <p:spPr>
          <a:xfrm>
            <a:off x="5314950" y="3030855"/>
            <a:ext cx="3676650" cy="533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5" name="Num205"/>
          <p:cNvSpPr/>
          <p:nvPr/>
        </p:nvSpPr>
        <p:spPr>
          <a:xfrm>
            <a:off x="5314950" y="3350895"/>
            <a:ext cx="370522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6" name="Title206"/>
          <p:cNvSpPr/>
          <p:nvPr/>
        </p:nvSpPr>
        <p:spPr>
          <a:xfrm>
            <a:off x="5314950" y="3728085"/>
            <a:ext cx="370522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projects</a:t>
            </a:r>
            <a:endParaRPr lang="en-US" sz="2550" dirty="0"/>
          </a:p>
        </p:txBody>
      </p:sp>
      <p:sp>
        <p:nvSpPr>
          <p:cNvPr id="207" name="Body207"/>
          <p:cNvSpPr/>
          <p:nvPr/>
        </p:nvSpPr>
        <p:spPr>
          <a:xfrm>
            <a:off x="5314950" y="4307205"/>
            <a:ext cx="3705225" cy="32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Markov attribution implementations on similar ad-interaction datasets</a:t>
            </a: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endParaRPr lang="en-US" sz="2000" dirty="0">
              <a:solidFill>
                <a:srgbClr val="6B76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Analytics’ Data-Driven Attribution -a commercial, black-box version of a similar idea</a:t>
            </a: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endParaRPr lang="en-US" sz="2000" dirty="0">
              <a:solidFill>
                <a:srgbClr val="6B76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papers formalizing the Markov removal-effect technique this project implements</a:t>
            </a:r>
          </a:p>
        </p:txBody>
      </p:sp>
      <p:sp>
        <p:nvSpPr>
          <p:cNvPr id="208" name="Line208"/>
          <p:cNvSpPr/>
          <p:nvPr/>
        </p:nvSpPr>
        <p:spPr>
          <a:xfrm>
            <a:off x="9296400" y="3030855"/>
            <a:ext cx="3676650" cy="533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9" name="Num209"/>
          <p:cNvSpPr/>
          <p:nvPr/>
        </p:nvSpPr>
        <p:spPr>
          <a:xfrm>
            <a:off x="9296400" y="3350895"/>
            <a:ext cx="370522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0" name="Title210"/>
          <p:cNvSpPr/>
          <p:nvPr/>
        </p:nvSpPr>
        <p:spPr>
          <a:xfrm>
            <a:off x="9296400" y="3728085"/>
            <a:ext cx="370522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</a:t>
            </a:r>
            <a:endParaRPr lang="en-US" sz="2550" dirty="0"/>
          </a:p>
        </p:txBody>
      </p:sp>
      <p:sp>
        <p:nvSpPr>
          <p:cNvPr id="211" name="Body211"/>
          <p:cNvSpPr/>
          <p:nvPr/>
        </p:nvSpPr>
        <p:spPr>
          <a:xfrm>
            <a:off x="9296400" y="4307205"/>
            <a:ext cx="3705225" cy="32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over- or under-credit channels by position, not by learned contribution</a:t>
            </a: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endParaRPr lang="en-US" sz="2000" dirty="0">
              <a:solidFill>
                <a:srgbClr val="6B76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 is fairest in theory but computationally expensive as channels grow</a:t>
            </a: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endParaRPr lang="en-US" sz="2000" dirty="0">
              <a:solidFill>
                <a:srgbClr val="6B76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tools don’t disclose methodology, making results hard to audit</a:t>
            </a:r>
          </a:p>
          <a:p>
            <a:pPr marL="228600" indent="0" algn="l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implementations skip leakage controls this project specifically addressed</a:t>
            </a:r>
          </a:p>
        </p:txBody>
      </p:sp>
      <p:sp>
        <p:nvSpPr>
          <p:cNvPr id="23" name="Text 21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88753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235"/>
              </a:lnSpc>
              <a:buNone/>
            </a:pPr>
            <a:r>
              <a:rPr lang="en-US" sz="1800" b="1" kern="0" spc="252" dirty="0">
                <a:solidFill>
                  <a:srgbClr val="462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CANVAS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600" y="781050"/>
            <a:ext cx="8875360" cy="511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4091"/>
              </a:lnSpc>
              <a:buNone/>
            </a:pPr>
            <a:r>
              <a:rPr lang="en-US" sz="3450" b="1" kern="0" spc="-34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Attribution &amp; Budget Intelligence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14878050" y="1002744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5F0FF"/>
          </a:solidFill>
          <a:ln w="15240">
            <a:solidFill>
              <a:srgbClr val="C2B2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5144750" y="941784"/>
            <a:ext cx="2787015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882"/>
              </a:lnSpc>
              <a:buNone/>
            </a:pPr>
            <a:r>
              <a:rPr lang="en-US" sz="1800" dirty="0">
                <a:solidFill>
                  <a:srgbClr val="69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prediction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1444704"/>
            <a:ext cx="3744158" cy="4183023"/>
          </a:xfrm>
          <a:prstGeom prst="roundRect">
            <a:avLst>
              <a:gd name="adj" fmla="val 3053"/>
            </a:avLst>
          </a:prstGeom>
          <a:solidFill>
            <a:srgbClr val="F7F6F9"/>
          </a:solidFill>
          <a:ln w="7620">
            <a:solidFill>
              <a:srgbClr val="DEDD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6770" y="1623774"/>
            <a:ext cx="342900" cy="342900"/>
          </a:xfrm>
          <a:prstGeom prst="ellipse">
            <a:avLst/>
          </a:prstGeom>
          <a:ln w="15240">
            <a:solidFill>
              <a:srgbClr val="6968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3910" y="1639014"/>
            <a:ext cx="38862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8235"/>
              </a:lnSpc>
              <a:buNone/>
            </a:pPr>
            <a:r>
              <a:rPr lang="en-US" sz="1800" b="1" dirty="0">
                <a:solidFill>
                  <a:srgbClr val="69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4920" y="1646634"/>
            <a:ext cx="211514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950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26770" y="2601278"/>
            <a:ext cx="3409113" cy="2346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92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Last-touch attribution misreads what drives conversions. We replace it with </a:t>
            </a: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Markov Chain attribution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 conversion predictor — smarter budget calls, same spend.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 rot="2700000">
            <a:off x="4526173" y="3485662"/>
            <a:ext cx="133350" cy="2286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 rot="2700000">
            <a:off x="4581418" y="3508545"/>
            <a:ext cx="22860" cy="13335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3808" y="1444704"/>
            <a:ext cx="3024664" cy="4183023"/>
          </a:xfrm>
          <a:prstGeom prst="roundRect">
            <a:avLst>
              <a:gd name="adj" fmla="val 3779"/>
            </a:avLst>
          </a:prstGeom>
          <a:solidFill>
            <a:srgbClr val="F7F6F9"/>
          </a:solidFill>
          <a:ln w="7620">
            <a:solidFill>
              <a:srgbClr val="DEDD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970979" y="1623774"/>
            <a:ext cx="342900" cy="342900"/>
          </a:xfrm>
          <a:prstGeom prst="ellipse">
            <a:avLst/>
          </a:prstGeom>
          <a:ln w="15240">
            <a:solidFill>
              <a:srgbClr val="6968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48119" y="1639014"/>
            <a:ext cx="38862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8235"/>
              </a:lnSpc>
              <a:buNone/>
            </a:pPr>
            <a:r>
              <a:rPr lang="en-US" sz="1800" b="1" dirty="0">
                <a:solidFill>
                  <a:srgbClr val="69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09129" y="1646634"/>
            <a:ext cx="165046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950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4970979" y="2509361"/>
            <a:ext cx="57150" cy="57150"/>
          </a:xfrm>
          <a:prstGeom prst="ellipse">
            <a:avLst/>
          </a:prstGeom>
          <a:solidFill>
            <a:srgbClr val="6968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23379" y="2395061"/>
            <a:ext cx="2514124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586,737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interactions, </a:t>
            </a: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240,108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4970979" y="3258026"/>
            <a:ext cx="57150" cy="57150"/>
          </a:xfrm>
          <a:prstGeom prst="ellipse">
            <a:avLst/>
          </a:prstGeom>
          <a:solidFill>
            <a:srgbClr val="6968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23379" y="3143726"/>
            <a:ext cx="2514124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channels: FB, Search, Instagram, Video, Display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4970979" y="4301014"/>
            <a:ext cx="57150" cy="57150"/>
          </a:xfrm>
          <a:prstGeom prst="ellipse">
            <a:avLst/>
          </a:prstGeom>
          <a:solidFill>
            <a:srgbClr val="6968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23379" y="4186714"/>
            <a:ext cx="2514124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timestamp, channel, type, conversion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 rot="2700000">
            <a:off x="7950886" y="3485662"/>
            <a:ext cx="133350" cy="2286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 rot="2700000">
            <a:off x="8006131" y="3508545"/>
            <a:ext cx="22860" cy="13335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78522" y="1444704"/>
            <a:ext cx="3312438" cy="4183023"/>
          </a:xfrm>
          <a:prstGeom prst="roundRect">
            <a:avLst>
              <a:gd name="adj" fmla="val 3451"/>
            </a:avLst>
          </a:prstGeom>
          <a:solidFill>
            <a:srgbClr val="F5F0FF"/>
          </a:solidFill>
          <a:ln w="7620">
            <a:solidFill>
              <a:srgbClr val="C2B2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395692" y="1623774"/>
            <a:ext cx="342900" cy="34290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357592" y="1623774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8235"/>
              </a:lnSpc>
              <a:buNone/>
            </a:pPr>
            <a:r>
              <a:rPr lang="en-US" sz="1800" b="1" dirty="0">
                <a:solidFill>
                  <a:srgbClr val="FDFD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33842" y="1646634"/>
            <a:ext cx="184233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950" b="1" dirty="0">
                <a:solidFill>
                  <a:srgbClr val="462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Task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395692" y="3009424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548092" y="2895124"/>
            <a:ext cx="2807469" cy="988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583"/>
              </a:lnSpc>
              <a:buNone/>
            </a:pP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Attribution: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Markov removal-effect — not a prediction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8395692" y="4093369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548092" y="3979069"/>
            <a:ext cx="2807469" cy="674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583"/>
              </a:lnSpc>
              <a:buNone/>
            </a:pP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Propensity: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within 7 days? (binary)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 rot="2700000">
            <a:off x="11663374" y="3485662"/>
            <a:ext cx="133350" cy="2286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 rot="2700000">
            <a:off x="11718619" y="3508545"/>
            <a:ext cx="22860" cy="13335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1891010" y="1444704"/>
            <a:ext cx="2506623" cy="4183023"/>
          </a:xfrm>
          <a:prstGeom prst="roundRect">
            <a:avLst>
              <a:gd name="adj" fmla="val 4560"/>
            </a:avLst>
          </a:prstGeom>
          <a:solidFill>
            <a:srgbClr val="F5F0FF"/>
          </a:solidFill>
          <a:ln w="7620">
            <a:solidFill>
              <a:srgbClr val="C2B2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2108181" y="1623774"/>
            <a:ext cx="342900" cy="34290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2070081" y="1623774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8235"/>
              </a:lnSpc>
              <a:buNone/>
            </a:pPr>
            <a:r>
              <a:rPr lang="en-US" sz="1800" b="1" dirty="0">
                <a:solidFill>
                  <a:srgbClr val="FDFD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546331" y="1646634"/>
            <a:ext cx="114978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950" b="1" dirty="0">
                <a:solidFill>
                  <a:srgbClr val="462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2108181" y="3017044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2260581" y="2902744"/>
            <a:ext cx="199608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83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Reallocate budget across 5 channels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2108181" y="4093369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2260581" y="3979069"/>
            <a:ext cx="199608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583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to remarket to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 rot="2700000">
            <a:off x="14570047" y="3485662"/>
            <a:ext cx="133350" cy="2286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 rot="2700000">
            <a:off x="14625292" y="3508545"/>
            <a:ext cx="22860" cy="13335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4797683" y="1444704"/>
            <a:ext cx="2880717" cy="4183023"/>
          </a:xfrm>
          <a:prstGeom prst="roundRect">
            <a:avLst>
              <a:gd name="adj" fmla="val 3968"/>
            </a:avLst>
          </a:prstGeom>
          <a:solidFill>
            <a:srgbClr val="F7F6F9"/>
          </a:solidFill>
          <a:ln w="7620">
            <a:solidFill>
              <a:srgbClr val="DEDD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5014853" y="1749504"/>
            <a:ext cx="342900" cy="342900"/>
          </a:xfrm>
          <a:prstGeom prst="ellipse">
            <a:avLst/>
          </a:prstGeom>
          <a:ln w="15240">
            <a:solidFill>
              <a:srgbClr val="6968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4991993" y="1764744"/>
            <a:ext cx="38862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8235"/>
              </a:lnSpc>
              <a:buNone/>
            </a:pPr>
            <a:r>
              <a:rPr lang="en-US" sz="1800" b="1" dirty="0">
                <a:solidFill>
                  <a:srgbClr val="69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5453003" y="1623774"/>
            <a:ext cx="208442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950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Predictions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5014853" y="3135154"/>
            <a:ext cx="57150" cy="57150"/>
          </a:xfrm>
          <a:prstGeom prst="ellipse">
            <a:avLst/>
          </a:prstGeom>
          <a:solidFill>
            <a:srgbClr val="6968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5167253" y="3020854"/>
            <a:ext cx="2370177" cy="674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583"/>
              </a:lnSpc>
              <a:buNone/>
            </a:pP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Attribution: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batch, on data refresh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15014853" y="3904774"/>
            <a:ext cx="57150" cy="57150"/>
          </a:xfrm>
          <a:prstGeom prst="ellipse">
            <a:avLst/>
          </a:prstGeom>
          <a:solidFill>
            <a:srgbClr val="6968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5167253" y="3790474"/>
            <a:ext cx="2370177" cy="988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83"/>
              </a:lnSpc>
              <a:buNone/>
            </a:pP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Propensity: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real-time, FastAPI /predict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609600" y="5780127"/>
            <a:ext cx="3250525" cy="4183023"/>
          </a:xfrm>
          <a:prstGeom prst="roundRect">
            <a:avLst>
              <a:gd name="adj" fmla="val 3516"/>
            </a:avLst>
          </a:prstGeom>
          <a:solidFill>
            <a:srgbClr val="F5F0FF"/>
          </a:solidFill>
          <a:ln w="7620">
            <a:solidFill>
              <a:srgbClr val="C2B2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826770" y="5959197"/>
            <a:ext cx="342900" cy="34290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88670" y="5959197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8235"/>
              </a:lnSpc>
              <a:buNone/>
            </a:pPr>
            <a:r>
              <a:rPr lang="en-US" sz="1800" b="1" dirty="0">
                <a:solidFill>
                  <a:srgbClr val="FDFD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64920" y="5982058"/>
            <a:ext cx="213033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950" b="1" dirty="0">
                <a:solidFill>
                  <a:srgbClr val="462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Evaluation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826770" y="6995756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979170" y="6881456"/>
            <a:ext cx="274369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via validation PR-AUC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826770" y="7729181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979170" y="7614881"/>
            <a:ext cx="2743699" cy="989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</a:t>
            </a: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0.648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0.065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 0.035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826770" y="8795028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979170" y="8680728"/>
            <a:ext cx="274369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Customer-level split, zero overlap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 rot="2700000">
            <a:off x="4032540" y="7821085"/>
            <a:ext cx="133350" cy="2286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 rot="2700000">
            <a:off x="4087785" y="7843968"/>
            <a:ext cx="22860" cy="13335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374475" y="5807690"/>
            <a:ext cx="2883098" cy="4183023"/>
          </a:xfrm>
          <a:prstGeom prst="roundRect">
            <a:avLst>
              <a:gd name="adj" fmla="val 3964"/>
            </a:avLst>
          </a:prstGeom>
          <a:solidFill>
            <a:srgbClr val="F7F6F9"/>
          </a:solidFill>
          <a:ln w="7620">
            <a:solidFill>
              <a:srgbClr val="DEDDE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6" name="Shape 64"/>
          <p:cNvSpPr/>
          <p:nvPr/>
        </p:nvSpPr>
        <p:spPr>
          <a:xfrm>
            <a:off x="4477345" y="5959197"/>
            <a:ext cx="342900" cy="342900"/>
          </a:xfrm>
          <a:prstGeom prst="ellipse">
            <a:avLst/>
          </a:prstGeom>
          <a:ln w="15240">
            <a:solidFill>
              <a:srgbClr val="6968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454485" y="5974437"/>
            <a:ext cx="38862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8235"/>
              </a:lnSpc>
              <a:buNone/>
            </a:pPr>
            <a:r>
              <a:rPr lang="en-US" sz="1800" b="1" dirty="0">
                <a:solidFill>
                  <a:srgbClr val="69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4915495" y="5982058"/>
            <a:ext cx="184731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950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950" dirty="0"/>
          </a:p>
        </p:txBody>
      </p:sp>
      <p:sp>
        <p:nvSpPr>
          <p:cNvPr id="69" name="Shape 67"/>
          <p:cNvSpPr/>
          <p:nvPr/>
        </p:nvSpPr>
        <p:spPr>
          <a:xfrm>
            <a:off x="4477345" y="6852404"/>
            <a:ext cx="57150" cy="57150"/>
          </a:xfrm>
          <a:prstGeom prst="ellipse">
            <a:avLst/>
          </a:prstGeom>
          <a:solidFill>
            <a:srgbClr val="6968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629745" y="6738104"/>
            <a:ext cx="2372559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ad spend </a:t>
            </a:r>
            <a:endParaRPr lang="en-US" sz="1875" dirty="0"/>
          </a:p>
        </p:txBody>
      </p:sp>
      <p:sp>
        <p:nvSpPr>
          <p:cNvPr id="71" name="Shape 69"/>
          <p:cNvSpPr/>
          <p:nvPr/>
        </p:nvSpPr>
        <p:spPr>
          <a:xfrm>
            <a:off x="4505920" y="7576780"/>
            <a:ext cx="57150" cy="57150"/>
          </a:xfrm>
          <a:prstGeom prst="ellipse">
            <a:avLst/>
          </a:prstGeom>
          <a:solidFill>
            <a:srgbClr val="6968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629745" y="7471530"/>
            <a:ext cx="2372559" cy="966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Demographics, device, time-of-day</a:t>
            </a:r>
            <a:endParaRPr lang="en-US" sz="1875" dirty="0"/>
          </a:p>
        </p:txBody>
      </p:sp>
      <p:sp>
        <p:nvSpPr>
          <p:cNvPr id="73" name="Shape 71"/>
          <p:cNvSpPr/>
          <p:nvPr/>
        </p:nvSpPr>
        <p:spPr>
          <a:xfrm>
            <a:off x="4477345" y="8628817"/>
            <a:ext cx="57150" cy="57150"/>
          </a:xfrm>
          <a:prstGeom prst="ellipse">
            <a:avLst/>
          </a:prstGeom>
          <a:solidFill>
            <a:srgbClr val="6968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629745" y="8518327"/>
            <a:ext cx="2372559" cy="962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holdout → causal incrementality</a:t>
            </a:r>
            <a:endParaRPr lang="en-US" sz="1875" dirty="0"/>
          </a:p>
        </p:txBody>
      </p:sp>
      <p:sp>
        <p:nvSpPr>
          <p:cNvPr id="75" name="Shape 73"/>
          <p:cNvSpPr/>
          <p:nvPr/>
        </p:nvSpPr>
        <p:spPr>
          <a:xfrm rot="2700000">
            <a:off x="7315688" y="7821085"/>
            <a:ext cx="133350" cy="2286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 rot="2700000">
            <a:off x="7370933" y="7843968"/>
            <a:ext cx="22860" cy="13335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7587681" y="5874360"/>
            <a:ext cx="2883098" cy="4183023"/>
          </a:xfrm>
          <a:prstGeom prst="roundRect">
            <a:avLst>
              <a:gd name="adj" fmla="val 4140"/>
            </a:avLst>
          </a:prstGeom>
          <a:solidFill>
            <a:srgbClr val="F5F0FF"/>
          </a:solidFill>
          <a:ln w="7620">
            <a:solidFill>
              <a:srgbClr val="C2B2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7760494" y="5959197"/>
            <a:ext cx="342900" cy="34290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722394" y="5959197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8235"/>
              </a:lnSpc>
              <a:buNone/>
            </a:pPr>
            <a:r>
              <a:rPr lang="en-US" sz="1800" b="1" dirty="0">
                <a:solidFill>
                  <a:srgbClr val="FDFD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8198644" y="5982058"/>
            <a:ext cx="105358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950" b="1" dirty="0">
                <a:solidFill>
                  <a:srgbClr val="462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950" dirty="0"/>
          </a:p>
        </p:txBody>
      </p:sp>
      <p:sp>
        <p:nvSpPr>
          <p:cNvPr id="81" name="Shape 79"/>
          <p:cNvSpPr/>
          <p:nvPr/>
        </p:nvSpPr>
        <p:spPr>
          <a:xfrm>
            <a:off x="7760494" y="7158157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7912894" y="7043857"/>
            <a:ext cx="2250162" cy="66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Touchpoint count — </a:t>
            </a: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~35%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</a:t>
            </a:r>
            <a:endParaRPr lang="en-US" sz="1875" dirty="0"/>
          </a:p>
        </p:txBody>
      </p:sp>
      <p:sp>
        <p:nvSpPr>
          <p:cNvPr id="83" name="Shape 81"/>
          <p:cNvSpPr/>
          <p:nvPr/>
        </p:nvSpPr>
        <p:spPr>
          <a:xfrm>
            <a:off x="7760494" y="7899202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7912894" y="7784902"/>
            <a:ext cx="225016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channels · per-channel visits</a:t>
            </a:r>
            <a:endParaRPr lang="en-US" sz="1875" dirty="0"/>
          </a:p>
        </p:txBody>
      </p:sp>
      <p:sp>
        <p:nvSpPr>
          <p:cNvPr id="85" name="Shape 83"/>
          <p:cNvSpPr/>
          <p:nvPr/>
        </p:nvSpPr>
        <p:spPr>
          <a:xfrm>
            <a:off x="7760494" y="8632627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7912894" y="8518327"/>
            <a:ext cx="225016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/ last channel seen</a:t>
            </a:r>
            <a:endParaRPr lang="en-US" sz="1875" dirty="0"/>
          </a:p>
        </p:txBody>
      </p:sp>
      <p:sp>
        <p:nvSpPr>
          <p:cNvPr id="87" name="Shape 85"/>
          <p:cNvSpPr/>
          <p:nvPr/>
        </p:nvSpPr>
        <p:spPr>
          <a:xfrm rot="2700000">
            <a:off x="10476441" y="7821085"/>
            <a:ext cx="133350" cy="2286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 rot="2700000">
            <a:off x="10531686" y="7843968"/>
            <a:ext cx="22860" cy="13335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10704076" y="5780127"/>
            <a:ext cx="3323868" cy="4183023"/>
          </a:xfrm>
          <a:prstGeom prst="roundRect">
            <a:avLst>
              <a:gd name="adj" fmla="val 3439"/>
            </a:avLst>
          </a:prstGeom>
          <a:solidFill>
            <a:srgbClr val="F5F0FF"/>
          </a:solidFill>
          <a:ln w="7620">
            <a:solidFill>
              <a:srgbClr val="C2B2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10921246" y="5959197"/>
            <a:ext cx="342900" cy="34290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10883146" y="5959197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8235"/>
              </a:lnSpc>
              <a:buNone/>
            </a:pPr>
            <a:r>
              <a:rPr lang="en-US" sz="1800" b="1" dirty="0">
                <a:solidFill>
                  <a:srgbClr val="FDFD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11359396" y="5982058"/>
            <a:ext cx="192314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950" b="1" dirty="0">
                <a:solidFill>
                  <a:srgbClr val="462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Models</a:t>
            </a:r>
            <a:endParaRPr lang="en-US" sz="1950" dirty="0"/>
          </a:p>
        </p:txBody>
      </p:sp>
      <p:sp>
        <p:nvSpPr>
          <p:cNvPr id="93" name="Shape 91"/>
          <p:cNvSpPr/>
          <p:nvPr/>
        </p:nvSpPr>
        <p:spPr>
          <a:xfrm>
            <a:off x="10921246" y="6999565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11073646" y="6885265"/>
            <a:ext cx="2819242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(final) vs. </a:t>
            </a:r>
            <a:r>
              <a:rPr lang="en-US" sz="1875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75" dirty="0"/>
          </a:p>
        </p:txBody>
      </p:sp>
      <p:sp>
        <p:nvSpPr>
          <p:cNvPr id="95" name="Shape 93"/>
          <p:cNvSpPr/>
          <p:nvPr/>
        </p:nvSpPr>
        <p:spPr>
          <a:xfrm>
            <a:off x="10921246" y="7748231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11073646" y="7633931"/>
            <a:ext cx="2819242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over reweighting — 4.4% conversion</a:t>
            </a:r>
            <a:endParaRPr lang="en-US" sz="1875" dirty="0"/>
          </a:p>
        </p:txBody>
      </p:sp>
      <p:sp>
        <p:nvSpPr>
          <p:cNvPr id="97" name="Shape 95"/>
          <p:cNvSpPr/>
          <p:nvPr/>
        </p:nvSpPr>
        <p:spPr>
          <a:xfrm>
            <a:off x="10921246" y="8791218"/>
            <a:ext cx="57150" cy="57150"/>
          </a:xfrm>
          <a:prstGeom prst="ellipse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11073646" y="8676918"/>
            <a:ext cx="281924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horizon; 78,025 censored rows excluded</a:t>
            </a:r>
            <a:endParaRPr lang="en-US" sz="1875" dirty="0"/>
          </a:p>
        </p:txBody>
      </p:sp>
      <p:sp>
        <p:nvSpPr>
          <p:cNvPr id="99" name="Shape 97"/>
          <p:cNvSpPr/>
          <p:nvPr/>
        </p:nvSpPr>
        <p:spPr>
          <a:xfrm rot="2700000">
            <a:off x="14200358" y="7821085"/>
            <a:ext cx="133350" cy="2286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 rot="2700000">
            <a:off x="14255603" y="7843968"/>
            <a:ext cx="22860" cy="133350"/>
          </a:xfrm>
          <a:prstGeom prst="rect">
            <a:avLst/>
          </a:prstGeom>
          <a:solidFill>
            <a:srgbClr val="7252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14427994" y="5780127"/>
            <a:ext cx="3250406" cy="4183023"/>
          </a:xfrm>
          <a:prstGeom prst="roundRect">
            <a:avLst>
              <a:gd name="adj" fmla="val 3516"/>
            </a:avLst>
          </a:prstGeom>
          <a:solidFill>
            <a:srgbClr val="F7F6F9"/>
          </a:solidFill>
          <a:ln w="7620">
            <a:solidFill>
              <a:srgbClr val="DEDD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14645164" y="6084927"/>
            <a:ext cx="342900" cy="342900"/>
          </a:xfrm>
          <a:prstGeom prst="ellipse">
            <a:avLst/>
          </a:prstGeom>
          <a:ln w="15240">
            <a:solidFill>
              <a:srgbClr val="6968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14622304" y="6100167"/>
            <a:ext cx="38862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88235"/>
              </a:lnSpc>
              <a:buNone/>
            </a:pPr>
            <a:r>
              <a:rPr lang="en-US" sz="1800" b="1" dirty="0">
                <a:solidFill>
                  <a:srgbClr val="69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15083314" y="5959197"/>
            <a:ext cx="245411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950" b="1" dirty="0">
                <a:solidFill>
                  <a:srgbClr val="16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Eval &amp; Monitoring</a:t>
            </a:r>
            <a:endParaRPr lang="en-US" sz="1950" dirty="0"/>
          </a:p>
        </p:txBody>
      </p:sp>
      <p:sp>
        <p:nvSpPr>
          <p:cNvPr id="105" name="Shape 103"/>
          <p:cNvSpPr/>
          <p:nvPr/>
        </p:nvSpPr>
        <p:spPr>
          <a:xfrm>
            <a:off x="14645164" y="7283887"/>
            <a:ext cx="57150" cy="57150"/>
          </a:xfrm>
          <a:prstGeom prst="ellipse">
            <a:avLst/>
          </a:prstGeom>
          <a:solidFill>
            <a:srgbClr val="6968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14797564" y="7169587"/>
            <a:ext cx="27435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suite: 15 tests, every change</a:t>
            </a:r>
            <a:endParaRPr lang="en-US" sz="1875" dirty="0"/>
          </a:p>
        </p:txBody>
      </p:sp>
      <p:sp>
        <p:nvSpPr>
          <p:cNvPr id="107" name="Shape 105"/>
          <p:cNvSpPr/>
          <p:nvPr/>
        </p:nvSpPr>
        <p:spPr>
          <a:xfrm>
            <a:off x="14645164" y="8017312"/>
            <a:ext cx="57150" cy="57150"/>
          </a:xfrm>
          <a:prstGeom prst="ellipse">
            <a:avLst/>
          </a:prstGeom>
          <a:solidFill>
            <a:srgbClr val="6968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14797564" y="7903012"/>
            <a:ext cx="27435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check: DB, model, metrics</a:t>
            </a:r>
            <a:endParaRPr lang="en-US" sz="1875" dirty="0"/>
          </a:p>
        </p:txBody>
      </p:sp>
      <p:sp>
        <p:nvSpPr>
          <p:cNvPr id="109" name="Shape 107"/>
          <p:cNvSpPr/>
          <p:nvPr/>
        </p:nvSpPr>
        <p:spPr>
          <a:xfrm>
            <a:off x="14645164" y="8750737"/>
            <a:ext cx="57150" cy="57150"/>
          </a:xfrm>
          <a:prstGeom prst="ellipse">
            <a:avLst/>
          </a:prstGeom>
          <a:solidFill>
            <a:srgbClr val="6968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14797564" y="8636437"/>
            <a:ext cx="2743576" cy="66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1875" i="1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</a:t>
            </a:r>
            <a:r>
              <a:rPr lang="en-US" sz="1875" dirty="0">
                <a:solidFill>
                  <a:srgbClr val="333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 + drift monitoring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33500" y="250698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33500" y="3030855"/>
            <a:ext cx="3705225" cy="187071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19250" y="3335655"/>
            <a:ext cx="344709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586,737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619250" y="4032885"/>
            <a:ext cx="34470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interaction rows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05425" y="3030855"/>
            <a:ext cx="3705225" cy="187071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591175" y="3335655"/>
            <a:ext cx="344709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582,592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5591175" y="4032885"/>
            <a:ext cx="3227737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 (4,145 duplicates removed)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77350" y="3030855"/>
            <a:ext cx="3705225" cy="187071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563100" y="3335655"/>
            <a:ext cx="344709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232,648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563100" y="4032885"/>
            <a:ext cx="34470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journeys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249275" y="3030855"/>
            <a:ext cx="3705225" cy="1870710"/>
          </a:xfrm>
          <a:prstGeom prst="rect">
            <a:avLst/>
          </a:prstGeom>
          <a:gradFill rotWithShape="1">
            <a:gsLst>
              <a:gs pos="0">
                <a:srgbClr val="4E607A">
                  <a:alpha val="100000"/>
                </a:srgbClr>
              </a:gs>
              <a:gs pos="45000">
                <a:srgbClr val="44546A">
                  <a:alpha val="100000"/>
                </a:srgbClr>
              </a:gs>
              <a:gs pos="100000">
                <a:srgbClr val="39465A">
                  <a:alpha val="100000"/>
                </a:srgbClr>
              </a:gs>
            </a:gsLst>
            <a:path path="circle">
              <a:fillToRect l="15000" r="85000" b="10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3535025" y="3335655"/>
            <a:ext cx="344709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4.38%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3535025" y="4032885"/>
            <a:ext cx="3227737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Journey-level conversion rate (10,179 conversions)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5434965"/>
            <a:ext cx="83095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33500" y="5831205"/>
            <a:ext cx="778078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· Paid Search · Instagram · Online Video · Online Display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649659" y="5434965"/>
            <a:ext cx="301044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49659" y="5831205"/>
            <a:ext cx="281887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 2018 – 31 Jul 2018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148429" y="5434965"/>
            <a:ext cx="185347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148429" y="5831205"/>
            <a:ext cx="1016557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240,108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333500" y="8562975"/>
            <a:ext cx="45720" cy="771525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626870" y="8562975"/>
            <a:ext cx="142343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476"/>
              </a:lnSpc>
              <a:buNone/>
            </a:pPr>
            <a:r>
              <a:rPr lang="en-US" sz="2025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cleaning rules beyond the original pipeline: 194 impressions sharing an exact timestamp with another event were excluded due to ordering ambiguity, and touchpoints are restricted to impressions strictly before that journey's conversion event.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33500" y="250698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33500" y="3030855"/>
            <a:ext cx="3676650" cy="533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33500" y="3350895"/>
            <a:ext cx="40443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33500" y="3728085"/>
            <a:ext cx="404431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reconstruction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33500" y="4307205"/>
            <a:ext cx="3786950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grouped per customer, ordered by timestamp, restricted to touchpoints strictly before any conversion. Same-timestamp impressions excluded rather than arbitrarily ordered.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314950" y="3030855"/>
            <a:ext cx="3676650" cy="533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14950" y="3350895"/>
            <a:ext cx="40443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14950" y="3728085"/>
            <a:ext cx="404431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attribution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314950" y="4307205"/>
            <a:ext cx="3786950" cy="300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 as state sequences ending in Conversion or Null. A first-order transition matrix gives each channel's removal effect: drop the channel, redirect its mass to Null, measure the fall in conversion probability, normalize across channels.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296400" y="3030855"/>
            <a:ext cx="3676650" cy="533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296400" y="3350895"/>
            <a:ext cx="40443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96400" y="3728085"/>
            <a:ext cx="404431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simulation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296400" y="4307205"/>
            <a:ext cx="3786950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reallocated from the Last-Touch distribution to the Markov distribution at constant total budget. An attribution-aligned reallocation, not a causal ROI optimizer.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277850" y="3030855"/>
            <a:ext cx="3676650" cy="5334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3277850" y="3350895"/>
            <a:ext cx="40443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77850" y="3728085"/>
            <a:ext cx="404431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model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3277850" y="4307205"/>
            <a:ext cx="3786950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whether a customer converts within 7 days of an in-progress prefix of 1–5 impressions. Logistic Regression vs. XGBoost, selected on validation PR-AUC.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MARKOV ATTRIBUTION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Markov attribution works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33500" y="2297430"/>
            <a:ext cx="17183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50-customer example, worked by hand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33500" y="294132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33500" y="3427095"/>
            <a:ext cx="891530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customer journeys, grouped by path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33500" y="4276725"/>
            <a:ext cx="8104823" cy="1524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33500" y="3861435"/>
            <a:ext cx="13620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71750" y="3861435"/>
            <a:ext cx="755323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33500" y="4878705"/>
            <a:ext cx="8104823" cy="9525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33500" y="4425315"/>
            <a:ext cx="13620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571750" y="4425315"/>
            <a:ext cx="75532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→ Instagram → Conversion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33500" y="5473065"/>
            <a:ext cx="8104823" cy="9525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333500" y="5019675"/>
            <a:ext cx="13620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571750" y="5019675"/>
            <a:ext cx="75532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→ Paid Search → Conversion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33500" y="6067425"/>
            <a:ext cx="8104823" cy="9525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333500" y="5614035"/>
            <a:ext cx="13620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571750" y="5614035"/>
            <a:ext cx="75532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→ Conversion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333500" y="6661785"/>
            <a:ext cx="8104823" cy="9525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333500" y="6208395"/>
            <a:ext cx="13620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571750" y="6208395"/>
            <a:ext cx="75532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→ Conversion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333500" y="7256145"/>
            <a:ext cx="8104823" cy="9525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333500" y="6802755"/>
            <a:ext cx="13620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571750" y="6802755"/>
            <a:ext cx="75532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→ Null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333500" y="7850505"/>
            <a:ext cx="8104823" cy="9525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333500" y="7397115"/>
            <a:ext cx="13620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571750" y="7397115"/>
            <a:ext cx="75532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→ Null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333500" y="8444865"/>
            <a:ext cx="8104823" cy="9525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333500" y="7991475"/>
            <a:ext cx="13620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2571750" y="7991475"/>
            <a:ext cx="75532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→ Null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200323" y="4487228"/>
            <a:ext cx="695680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tracking each customer individually, group them by the sequence of channels visited before converting or leaving.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0200323" y="5592128"/>
            <a:ext cx="6754178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0581323" y="6011228"/>
            <a:ext cx="6591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conversion rate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0581323" y="6411278"/>
            <a:ext cx="6591396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411"/>
              </a:lnSpc>
              <a:buNone/>
            </a:pPr>
            <a:r>
              <a:rPr lang="en-US" sz="7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7200" dirty="0"/>
          </a:p>
        </p:txBody>
      </p:sp>
      <p:sp>
        <p:nvSpPr>
          <p:cNvPr id="37" name="Text 35"/>
          <p:cNvSpPr/>
          <p:nvPr/>
        </p:nvSpPr>
        <p:spPr>
          <a:xfrm>
            <a:off x="10581323" y="7550468"/>
            <a:ext cx="65913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of 50 customers converted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E607A">
                  <a:alpha val="100000"/>
                </a:srgbClr>
              </a:gs>
              <a:gs pos="45000">
                <a:srgbClr val="44546A">
                  <a:alpha val="100000"/>
                </a:srgbClr>
              </a:gs>
              <a:gs pos="100000">
                <a:srgbClr val="39465A">
                  <a:alpha val="100000"/>
                </a:srgbClr>
              </a:gs>
            </a:gsLst>
            <a:path path="circle">
              <a:fillToRect l="15000" r="85000" b="10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FFC000">
                  <a:alpha val="12000"/>
                </a:srgbClr>
              </a:gs>
              <a:gs pos="70000">
                <a:srgbClr val="FFC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MARKOV ATTRIBUTION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journeys into a network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33500" y="2297430"/>
            <a:ext cx="17183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where customers went next, from each channel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33500" y="2941320"/>
            <a:ext cx="15621000" cy="28575"/>
          </a:xfrm>
          <a:prstGeom prst="rect">
            <a:avLst/>
          </a:prstGeom>
          <a:solidFill>
            <a:srgbClr val="5D6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33500" y="3388995"/>
            <a:ext cx="15621000" cy="2659380"/>
          </a:xfrm>
          <a:prstGeom prst="rect">
            <a:avLst/>
          </a:prstGeom>
          <a:solidFill>
            <a:srgbClr val="374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76400" y="3693795"/>
            <a:ext cx="164287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30 customers passed through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676400" y="428244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Instagram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4095750" y="4362450"/>
            <a:ext cx="9429750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095750" y="4362450"/>
            <a:ext cx="4714875" cy="1524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468350" y="428244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of 30)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676400" y="480441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Paid Search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4095750" y="4884420"/>
            <a:ext cx="9429750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095750" y="4884420"/>
            <a:ext cx="3142893" cy="1524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3468350" y="480441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33.33%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of 30)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676400" y="532638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Null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4095750" y="5406390"/>
            <a:ext cx="9429750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095750" y="5406390"/>
            <a:ext cx="1571863" cy="152400"/>
          </a:xfrm>
          <a:prstGeom prst="rect">
            <a:avLst/>
          </a:prstGeom>
          <a:solidFill>
            <a:srgbClr val="5D6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3468350" y="532638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16.67%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of 30)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333500" y="6257925"/>
            <a:ext cx="7705725" cy="2011680"/>
          </a:xfrm>
          <a:prstGeom prst="rect">
            <a:avLst/>
          </a:prstGeom>
          <a:solidFill>
            <a:srgbClr val="374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638300" y="6524625"/>
            <a:ext cx="78057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25 customers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638300" y="706374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Conversion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4057650" y="7143750"/>
            <a:ext cx="1590675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057650" y="7143750"/>
            <a:ext cx="1272540" cy="1524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591175" y="706374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 of 25)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638300" y="758571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Null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4057650" y="7665720"/>
            <a:ext cx="1590675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057650" y="7665720"/>
            <a:ext cx="318135" cy="152400"/>
          </a:xfrm>
          <a:prstGeom prst="rect">
            <a:avLst/>
          </a:prstGeom>
          <a:solidFill>
            <a:srgbClr val="5D6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591175" y="758571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of 25)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9248775" y="6257925"/>
            <a:ext cx="7705725" cy="2011680"/>
          </a:xfrm>
          <a:prstGeom prst="rect">
            <a:avLst/>
          </a:prstGeom>
          <a:solidFill>
            <a:srgbClr val="374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553575" y="6524625"/>
            <a:ext cx="78057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 customers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553575" y="706374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Conversion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11972925" y="7143750"/>
            <a:ext cx="1590675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1972925" y="7143750"/>
            <a:ext cx="1193006" cy="1524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3506450" y="706374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of 20)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9553575" y="758571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Null</a:t>
            </a:r>
            <a:endParaRPr lang="en-US" sz="2025" dirty="0"/>
          </a:p>
        </p:txBody>
      </p:sp>
      <p:sp>
        <p:nvSpPr>
          <p:cNvPr id="39" name="Shape 37"/>
          <p:cNvSpPr/>
          <p:nvPr/>
        </p:nvSpPr>
        <p:spPr>
          <a:xfrm>
            <a:off x="11972925" y="7665720"/>
            <a:ext cx="1590675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1972925" y="7665720"/>
            <a:ext cx="397669" cy="152400"/>
          </a:xfrm>
          <a:prstGeom prst="rect">
            <a:avLst/>
          </a:prstGeom>
          <a:solidFill>
            <a:srgbClr val="5D6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3506450" y="758571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of 20)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1333500" y="905256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and Paid Search also receive 10 direct entries each (not shown), following the same logic.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MARKOV ATTRIBUTION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converting, starting from Facebook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33500" y="2297430"/>
            <a:ext cx="17183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probabilities along a path, then add up every path that reaches Conversion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33500" y="294132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33500" y="3427095"/>
            <a:ext cx="75438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333500" y="3427095"/>
            <a:ext cx="7543800" cy="533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714500" y="3861435"/>
            <a:ext cx="74599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14500" y="4238625"/>
            <a:ext cx="745998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→ Instagram → Conversion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714500" y="4817745"/>
            <a:ext cx="745998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× 80% =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714500" y="5225415"/>
            <a:ext cx="745998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64"/>
              </a:lnSpc>
              <a:buNone/>
            </a:pPr>
            <a:r>
              <a:rPr lang="en-US" sz="6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6000" dirty="0"/>
          </a:p>
        </p:txBody>
      </p:sp>
      <p:sp>
        <p:nvSpPr>
          <p:cNvPr id="14" name="Shape 12"/>
          <p:cNvSpPr/>
          <p:nvPr/>
        </p:nvSpPr>
        <p:spPr>
          <a:xfrm>
            <a:off x="9410700" y="3427095"/>
            <a:ext cx="75438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410700" y="3427095"/>
            <a:ext cx="7543800" cy="5334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791700" y="3861435"/>
            <a:ext cx="74599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91700" y="4238625"/>
            <a:ext cx="745998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→ Paid Search → Conversion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791700" y="4817745"/>
            <a:ext cx="745998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33.33% × 75% =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791700" y="5225415"/>
            <a:ext cx="745998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64"/>
              </a:lnSpc>
              <a:buNone/>
            </a:pPr>
            <a:r>
              <a:rPr lang="en-US" sz="60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1333500" y="6749415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route, Facebook → Null (16.67%), contributes 0% — there is no conversion after Null.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333500" y="7833360"/>
            <a:ext cx="15621000" cy="1501140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752600" y="8214360"/>
            <a:ext cx="475154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+ 25% = 65%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491288" y="8397240"/>
            <a:ext cx="9451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starting at Facebook has a 65% probability of eventually converting.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E607A">
                  <a:alpha val="100000"/>
                </a:srgbClr>
              </a:gs>
              <a:gs pos="45000">
                <a:srgbClr val="44546A">
                  <a:alpha val="100000"/>
                </a:srgbClr>
              </a:gs>
              <a:gs pos="100000">
                <a:srgbClr val="39465A">
                  <a:alpha val="100000"/>
                </a:srgbClr>
              </a:gs>
            </a:gsLst>
            <a:path path="circle">
              <a:fillToRect l="15000" r="85000" b="10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FFC000">
                  <a:alpha val="12000"/>
                </a:srgbClr>
              </a:gs>
              <a:gs pos="70000">
                <a:srgbClr val="FFC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MARKOV ATTRIBUTION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removal effect: remove Instagram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33500" y="2297430"/>
            <a:ext cx="17183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one channel, redistribute its share, and recompute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33500" y="2941320"/>
            <a:ext cx="15621000" cy="28575"/>
          </a:xfrm>
          <a:prstGeom prst="rect">
            <a:avLst/>
          </a:prstGeom>
          <a:solidFill>
            <a:srgbClr val="5D6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33500" y="3427095"/>
            <a:ext cx="7543800" cy="2689860"/>
          </a:xfrm>
          <a:prstGeom prst="rect">
            <a:avLst/>
          </a:prstGeom>
          <a:solidFill>
            <a:srgbClr val="374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76400" y="3750945"/>
            <a:ext cx="7543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Instagram included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76400" y="433197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Instagram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4095750" y="4411980"/>
            <a:ext cx="1352550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095750" y="4411980"/>
            <a:ext cx="676275" cy="1524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91150" y="433197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of 30)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676400" y="485394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Paid Search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4095750" y="4933950"/>
            <a:ext cx="1352550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095750" y="4933950"/>
            <a:ext cx="450771" cy="1524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91150" y="485394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33.33%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of 30)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676400" y="537591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Null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4095750" y="5455920"/>
            <a:ext cx="1352550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095750" y="5455920"/>
            <a:ext cx="225385" cy="152400"/>
          </a:xfrm>
          <a:prstGeom prst="rect">
            <a:avLst/>
          </a:prstGeom>
          <a:solidFill>
            <a:srgbClr val="5D6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391150" y="537591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16.67%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of 30)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410700" y="3427095"/>
            <a:ext cx="7543800" cy="2689860"/>
          </a:xfrm>
          <a:prstGeom prst="rect">
            <a:avLst/>
          </a:prstGeom>
          <a:solidFill>
            <a:srgbClr val="37414F"/>
          </a:solidFill>
          <a:ln w="1524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768840" y="3766185"/>
            <a:ext cx="75102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Instagram removed, renormalized to 100%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768840" y="434721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Paid Search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2188190" y="4427220"/>
            <a:ext cx="1322070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2188190" y="4427220"/>
            <a:ext cx="881420" cy="1524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3453110" y="434721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66.67%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(normalized)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768840" y="4869180"/>
            <a:ext cx="2409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Null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2188190" y="4949190"/>
            <a:ext cx="1322070" cy="152400"/>
          </a:xfrm>
          <a:prstGeom prst="rect">
            <a:avLst/>
          </a:prstGeom>
          <a:solidFill>
            <a:srgbClr val="4E5A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2188190" y="4949190"/>
            <a:ext cx="440531" cy="152400"/>
          </a:xfrm>
          <a:prstGeom prst="rect">
            <a:avLst/>
          </a:prstGeom>
          <a:solidFill>
            <a:srgbClr val="5D6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3453110" y="4869180"/>
            <a:ext cx="31432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33.33% </a:t>
            </a: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(normalized)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333500" y="8218170"/>
            <a:ext cx="5336453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→ 50%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1333500" y="9052560"/>
            <a:ext cx="533645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Facebook's conversion probability, before vs. after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18221" y="8218170"/>
            <a:ext cx="533658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6718221" y="9052560"/>
            <a:ext cx="533658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conversion probability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103060" y="8218170"/>
            <a:ext cx="533658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23.08%</a:t>
            </a:r>
            <a:endParaRPr lang="en-US" sz="4800" dirty="0"/>
          </a:p>
        </p:txBody>
      </p:sp>
      <p:sp>
        <p:nvSpPr>
          <p:cNvPr id="37" name="Text 35"/>
          <p:cNvSpPr/>
          <p:nvPr/>
        </p:nvSpPr>
        <p:spPr>
          <a:xfrm>
            <a:off x="12103060" y="9052560"/>
            <a:ext cx="533658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Effect = 15 / 65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MARKOV ATTRIBUTION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33500" y="2297430"/>
            <a:ext cx="17183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removal for every channel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33500" y="294132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33500" y="3465195"/>
            <a:ext cx="2714625" cy="7391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483281" y="3693795"/>
            <a:ext cx="24150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00525" y="3693795"/>
            <a:ext cx="28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59975" y="3465195"/>
            <a:ext cx="2714744" cy="7391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09754" y="3693795"/>
            <a:ext cx="241518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probabilities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27119" y="3693795"/>
            <a:ext cx="28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86568" y="3465195"/>
            <a:ext cx="2714744" cy="7391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36347" y="3693795"/>
            <a:ext cx="241518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one channel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53713" y="3693795"/>
            <a:ext cx="28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013163" y="3465195"/>
            <a:ext cx="2714744" cy="7391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162941" y="3693795"/>
            <a:ext cx="241518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conversion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880306" y="3693795"/>
            <a:ext cx="28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239756" y="3465195"/>
            <a:ext cx="2714744" cy="73914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4389535" y="3693795"/>
            <a:ext cx="241518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effect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33500" y="4699635"/>
            <a:ext cx="53340" cy="10287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691640" y="4699635"/>
            <a:ext cx="1573149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"Markov attribution removes one channel at a time and asks: how much does the probability of conversion fall when this channel is no longer available?"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333500" y="8562975"/>
            <a:ext cx="153047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476"/>
              </a:lnSpc>
              <a:buNone/>
            </a:pPr>
            <a:r>
              <a:rPr lang="en-US" sz="2025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the full 232,648-journey dataset, that same calculation is what produces Instagram's 17.76% Markov-estimated credit versus its 13.54% Last-Touch credit shown earlier — a bigger drop means a more important channel.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E607A">
                  <a:alpha val="100000"/>
                </a:srgbClr>
              </a:gs>
              <a:gs pos="45000">
                <a:srgbClr val="44546A">
                  <a:alpha val="100000"/>
                </a:srgbClr>
              </a:gs>
              <a:gs pos="100000">
                <a:srgbClr val="39465A">
                  <a:alpha val="100000"/>
                </a:srgbClr>
              </a:gs>
            </a:gsLst>
            <a:path path="circle">
              <a:fillToRect l="15000" r="85000" b="10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FFC000">
                  <a:alpha val="12000"/>
                </a:srgbClr>
              </a:gs>
              <a:gs pos="70000">
                <a:srgbClr val="FFC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RIGOR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33500" y="2506980"/>
            <a:ext cx="15621000" cy="28575"/>
          </a:xfrm>
          <a:prstGeom prst="rect">
            <a:avLst/>
          </a:prstGeom>
          <a:solidFill>
            <a:srgbClr val="5D6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33500" y="3068955"/>
            <a:ext cx="36587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2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870829" y="3068955"/>
            <a:ext cx="704988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strictly pre-conversion impressions are used to build journey prefixes.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72625" y="3068955"/>
            <a:ext cx="36587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2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109954" y="3068955"/>
            <a:ext cx="704988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split into disjoint train, validation, and test sets, with zero customer overlap across partitions.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33500" y="4345305"/>
            <a:ext cx="36587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2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870829" y="4345305"/>
            <a:ext cx="7049883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too close to the end of the observation window — which would not have had a full 7 days to convert — are excluded (78,025 removed).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72625" y="4345305"/>
            <a:ext cx="36587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22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109954" y="4345305"/>
            <a:ext cx="7049883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is based on validation PR-AUC, never on test performance, to avoid selection leakage.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33500" y="853440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reported with ROC-AUC, PR-AUC, Brier score, log loss, and a 10-bin expected calibration error, so both ranking ability and probability calibration are assessed.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622821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comparison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2642890" y="1794510"/>
            <a:ext cx="209550" cy="209550"/>
          </a:xfrm>
          <a:prstGeom prst="rect">
            <a:avLst/>
          </a:prstGeom>
          <a:solidFill>
            <a:srgbClr val="B4BA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966740" y="1758315"/>
            <a:ext cx="108442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First-Touch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298811" y="1794510"/>
            <a:ext cx="209550" cy="2095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4622661" y="1758315"/>
            <a:ext cx="105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926991" y="1794510"/>
            <a:ext cx="209550" cy="20955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250841" y="1758315"/>
            <a:ext cx="7798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33500" y="3202305"/>
            <a:ext cx="27241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4133850" y="2933700"/>
            <a:ext cx="11983641" cy="190500"/>
          </a:xfrm>
          <a:prstGeom prst="rect">
            <a:avLst/>
          </a:prstGeom>
          <a:solidFill>
            <a:srgbClr val="B4BA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6269891" y="2887980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30.57%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33850" y="3282315"/>
            <a:ext cx="11983641" cy="1905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6269891" y="3236595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30.87%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33850" y="3630930"/>
            <a:ext cx="11983641" cy="19050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6269891" y="3585210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30.45%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4429125"/>
            <a:ext cx="27241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4133850" y="4160520"/>
            <a:ext cx="9333429" cy="190500"/>
          </a:xfrm>
          <a:prstGeom prst="rect">
            <a:avLst/>
          </a:prstGeom>
          <a:solidFill>
            <a:srgbClr val="B4BA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3619679" y="4114800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23.31%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133850" y="4509135"/>
            <a:ext cx="8987195" cy="1905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3273444" y="4463415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22.42%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133850" y="4857750"/>
            <a:ext cx="8910281" cy="19050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3196531" y="4812030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22.24%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33500" y="5655945"/>
            <a:ext cx="27241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4133850" y="5387340"/>
            <a:ext cx="5576888" cy="190500"/>
          </a:xfrm>
          <a:prstGeom prst="rect">
            <a:avLst/>
          </a:prstGeom>
          <a:solidFill>
            <a:srgbClr val="B4BA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863138" y="5341620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13.91%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133850" y="5735955"/>
            <a:ext cx="5423059" cy="1905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709309" y="5690235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13.54%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133850" y="6084570"/>
            <a:ext cx="7115413" cy="19050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1401663" y="6038850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17.76%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33500" y="6882765"/>
            <a:ext cx="27241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Video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4133850" y="6614160"/>
            <a:ext cx="8564166" cy="190500"/>
          </a:xfrm>
          <a:prstGeom prst="rect">
            <a:avLst/>
          </a:prstGeom>
          <a:solidFill>
            <a:srgbClr val="B4BA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2850416" y="6568440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21.37%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133850" y="6962775"/>
            <a:ext cx="9128284" cy="1905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3414534" y="6917055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22.79%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133850" y="7311390"/>
            <a:ext cx="7551301" cy="19050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1837551" y="7265670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18.84%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33500" y="8109585"/>
            <a:ext cx="27241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Display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4133850" y="7840980"/>
            <a:ext cx="4346138" cy="190500"/>
          </a:xfrm>
          <a:prstGeom prst="rect">
            <a:avLst/>
          </a:prstGeom>
          <a:solidFill>
            <a:srgbClr val="B4BA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632389" y="7795260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10.84%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133850" y="8189595"/>
            <a:ext cx="4153853" cy="1905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440103" y="8143875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10.38%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133850" y="8538210"/>
            <a:ext cx="4294822" cy="19050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581073" y="8492490"/>
            <a:ext cx="76080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10.71%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333500" y="8774430"/>
            <a:ext cx="45720" cy="85725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626870" y="8774430"/>
            <a:ext cx="1472492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 </a:t>
            </a:r>
            <a:r>
              <a:rPr lang="en-US" sz="225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under-credits Instagram </a:t>
            </a: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(13.54% vs. a Markov-estimated 17.76%, a gap of roughly 4.2 points) and </a:t>
            </a:r>
            <a:r>
              <a:rPr lang="en-US" sz="225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over-credits Online Video </a:t>
            </a: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(22.79% vs. 18.84%, a gap of roughly 3.9 points).</a:t>
            </a:r>
            <a:endParaRPr lang="en-US" sz="2250" dirty="0"/>
          </a:p>
        </p:txBody>
      </p:sp>
      <p:sp>
        <p:nvSpPr>
          <p:cNvPr id="49" name="Text 47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simulation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33500" y="2297430"/>
            <a:ext cx="17183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$100,000 total monthly budget, total spend held constant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33500" y="294132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33500" y="3503295"/>
            <a:ext cx="7543800" cy="28727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333500" y="3503295"/>
            <a:ext cx="7543800" cy="5334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752600" y="4013835"/>
            <a:ext cx="7376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Instagram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752600" y="4448175"/>
            <a:ext cx="7376160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411"/>
              </a:lnSpc>
              <a:buNone/>
            </a:pPr>
            <a:r>
              <a:rPr lang="en-US" sz="72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+$4,224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752600" y="5568315"/>
            <a:ext cx="73761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31.2% increase over its current allocation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410700" y="3503295"/>
            <a:ext cx="7543800" cy="28727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19050" dir="5400000" algn="bl" rotWithShape="0">
              <a:srgbClr val="D5DCE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410700" y="3503295"/>
            <a:ext cx="7543800" cy="533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829800" y="4013835"/>
            <a:ext cx="73761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Online Video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829800" y="4448175"/>
            <a:ext cx="7376160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411"/>
              </a:lnSpc>
              <a:buNone/>
            </a:pPr>
            <a:r>
              <a:rPr lang="en-US" sz="7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−$3,949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9829800" y="5568315"/>
            <a:ext cx="73761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17.3% reduction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33500" y="8477250"/>
            <a:ext cx="1520666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83"/>
              </a:lnSpc>
              <a:buNone/>
            </a:pPr>
            <a:r>
              <a:rPr lang="en-US" sz="2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adjustments apply to the remaining channels. This is presented explicitly as an attribution-aligned reallocation, not a causal return-on-investment optimizer, since the dataset does not contain spend-response or experimental data.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propensity model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33500" y="2297430"/>
            <a:ext cx="17183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conversion within 7 days of a 1–5 impression prefix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33500" y="294132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33500" y="3598545"/>
            <a:ext cx="351960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750594" y="3598545"/>
            <a:ext cx="251698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PR-AUC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7191375" y="3598545"/>
            <a:ext cx="251698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632156" y="3598545"/>
            <a:ext cx="251698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PR-AUC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072938" y="3598545"/>
            <a:ext cx="251698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4513719" y="3598545"/>
            <a:ext cx="251698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Gap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333500" y="4082415"/>
            <a:ext cx="3417094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33500" y="4352925"/>
            <a:ext cx="3519607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</a:t>
            </a:r>
            <a:r>
              <a:rPr lang="en-US" sz="1800" dirty="0">
                <a:solidFill>
                  <a:srgbClr val="FFFFFF"/>
                </a:solidFill>
                <a:highlight>
                  <a:srgbClr val="ED7D3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750594" y="4082415"/>
            <a:ext cx="2440781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0594" y="4352925"/>
            <a:ext cx="251698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0.0690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191375" y="4082415"/>
            <a:ext cx="2440781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91375" y="4352925"/>
            <a:ext cx="251698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0.6474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632156" y="4082415"/>
            <a:ext cx="2440781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632156" y="4352925"/>
            <a:ext cx="251698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0.0643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2072938" y="4082415"/>
            <a:ext cx="2440781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2072938" y="4352925"/>
            <a:ext cx="251698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0.0350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4513719" y="4082415"/>
            <a:ext cx="2440781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4513719" y="4352925"/>
            <a:ext cx="251698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0.0007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333500" y="5347335"/>
            <a:ext cx="3417094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333500" y="5617845"/>
            <a:ext cx="351960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750594" y="5347335"/>
            <a:ext cx="2440781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0594" y="5617845"/>
            <a:ext cx="251698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0.0687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191375" y="5347335"/>
            <a:ext cx="2440781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91375" y="5617845"/>
            <a:ext cx="251698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0.6487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632156" y="5347335"/>
            <a:ext cx="2440781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632156" y="5617845"/>
            <a:ext cx="251698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0.0655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2072938" y="5347335"/>
            <a:ext cx="2440781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2072938" y="5617845"/>
            <a:ext cx="251698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0.0350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14513719" y="5347335"/>
            <a:ext cx="2440781" cy="2286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4513719" y="5617845"/>
            <a:ext cx="251698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0.0007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1333500" y="8505825"/>
            <a:ext cx="45720" cy="82867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626870" y="8505825"/>
            <a:ext cx="1531357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 calibration gap and Brier score indicate the predicted probabilities are well-calibrated — when the model predicts a 5% chance of conversion, the observed conversion rate among similar snapshots is genuinely close to 5%.</a:t>
            </a:r>
            <a:endParaRPr lang="en-US" sz="2175" dirty="0"/>
          </a:p>
        </p:txBody>
      </p:sp>
      <p:sp>
        <p:nvSpPr>
          <p:cNvPr id="40" name="Text 38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E607A">
                  <a:alpha val="100000"/>
                </a:srgbClr>
              </a:gs>
              <a:gs pos="45000">
                <a:srgbClr val="44546A">
                  <a:alpha val="100000"/>
                </a:srgbClr>
              </a:gs>
              <a:gs pos="100000">
                <a:srgbClr val="39465A">
                  <a:alpha val="100000"/>
                </a:srgbClr>
              </a:gs>
            </a:gsLst>
            <a:path path="circle">
              <a:fillToRect l="15000" r="85000" b="10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FFC000">
                  <a:alpha val="12000"/>
                </a:srgbClr>
              </a:gs>
              <a:gs pos="70000">
                <a:srgbClr val="FFC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deployment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33500" y="2506980"/>
            <a:ext cx="15621000" cy="28575"/>
          </a:xfrm>
          <a:prstGeom prst="rect">
            <a:avLst/>
          </a:prstGeom>
          <a:solidFill>
            <a:srgbClr val="5D6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Box100"/>
          <p:cNvSpPr/>
          <p:nvPr/>
        </p:nvSpPr>
        <p:spPr>
          <a:xfrm>
            <a:off x="1333500" y="3030855"/>
            <a:ext cx="2670453" cy="800100"/>
          </a:xfrm>
          <a:prstGeom prst="rect">
            <a:avLst/>
          </a:prstGeom>
          <a:solidFill>
            <a:srgbClr val="374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Label101"/>
          <p:cNvSpPr/>
          <p:nvPr/>
        </p:nvSpPr>
        <p:spPr>
          <a:xfrm>
            <a:off x="1543050" y="3278505"/>
            <a:ext cx="22513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scripts</a:t>
            </a:r>
            <a:endParaRPr lang="en-US" sz="1950" dirty="0"/>
          </a:p>
        </p:txBody>
      </p:sp>
      <p:sp>
        <p:nvSpPr>
          <p:cNvPr id="102" name="Arrow102"/>
          <p:cNvSpPr/>
          <p:nvPr/>
        </p:nvSpPr>
        <p:spPr>
          <a:xfrm>
            <a:off x="4175403" y="3278505"/>
            <a:ext cx="300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50" dirty="0"/>
          </a:p>
        </p:txBody>
      </p:sp>
      <p:sp>
        <p:nvSpPr>
          <p:cNvPr id="103" name="Box103"/>
          <p:cNvSpPr/>
          <p:nvPr/>
        </p:nvSpPr>
        <p:spPr>
          <a:xfrm>
            <a:off x="4571047" y="3030855"/>
            <a:ext cx="2670572" cy="800100"/>
          </a:xfrm>
          <a:prstGeom prst="rect">
            <a:avLst/>
          </a:prstGeom>
          <a:solidFill>
            <a:srgbClr val="374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Label104"/>
          <p:cNvSpPr/>
          <p:nvPr/>
        </p:nvSpPr>
        <p:spPr>
          <a:xfrm>
            <a:off x="4780597" y="3278505"/>
            <a:ext cx="22514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runner</a:t>
            </a:r>
            <a:endParaRPr lang="en-US" sz="1950" dirty="0"/>
          </a:p>
        </p:txBody>
      </p:sp>
      <p:sp>
        <p:nvSpPr>
          <p:cNvPr id="105" name="Arrow105"/>
          <p:cNvSpPr/>
          <p:nvPr/>
        </p:nvSpPr>
        <p:spPr>
          <a:xfrm>
            <a:off x="7413070" y="3278505"/>
            <a:ext cx="300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50" dirty="0"/>
          </a:p>
        </p:txBody>
      </p:sp>
      <p:sp>
        <p:nvSpPr>
          <p:cNvPr id="106" name="Box106"/>
          <p:cNvSpPr/>
          <p:nvPr/>
        </p:nvSpPr>
        <p:spPr>
          <a:xfrm>
            <a:off x="7808714" y="3030855"/>
            <a:ext cx="2670453" cy="800100"/>
          </a:xfrm>
          <a:prstGeom prst="rect">
            <a:avLst/>
          </a:prstGeom>
          <a:solidFill>
            <a:srgbClr val="374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Label107"/>
          <p:cNvSpPr/>
          <p:nvPr/>
        </p:nvSpPr>
        <p:spPr>
          <a:xfrm>
            <a:off x="8018264" y="3278505"/>
            <a:ext cx="22513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950" dirty="0"/>
          </a:p>
        </p:txBody>
      </p:sp>
      <p:sp>
        <p:nvSpPr>
          <p:cNvPr id="108" name="Box108"/>
          <p:cNvSpPr/>
          <p:nvPr/>
        </p:nvSpPr>
        <p:spPr>
          <a:xfrm>
            <a:off x="1333500" y="4430955"/>
            <a:ext cx="2670453" cy="800100"/>
          </a:xfrm>
          <a:prstGeom prst="rect">
            <a:avLst/>
          </a:prstGeom>
          <a:solidFill>
            <a:srgbClr val="374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Label109"/>
          <p:cNvSpPr/>
          <p:nvPr/>
        </p:nvSpPr>
        <p:spPr>
          <a:xfrm>
            <a:off x="1543050" y="4678605"/>
            <a:ext cx="22513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950" dirty="0"/>
          </a:p>
        </p:txBody>
      </p:sp>
      <p:sp>
        <p:nvSpPr>
          <p:cNvPr id="110" name="Arrow110"/>
          <p:cNvSpPr/>
          <p:nvPr/>
        </p:nvSpPr>
        <p:spPr>
          <a:xfrm>
            <a:off x="4175403" y="4678605"/>
            <a:ext cx="300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50" dirty="0"/>
          </a:p>
        </p:txBody>
      </p:sp>
      <p:sp>
        <p:nvSpPr>
          <p:cNvPr id="111" name="Box111"/>
          <p:cNvSpPr/>
          <p:nvPr/>
        </p:nvSpPr>
        <p:spPr>
          <a:xfrm>
            <a:off x="4571047" y="4430955"/>
            <a:ext cx="2670572" cy="800100"/>
          </a:xfrm>
          <a:prstGeom prst="rect">
            <a:avLst/>
          </a:prstGeom>
          <a:solidFill>
            <a:srgbClr val="374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Label112"/>
          <p:cNvSpPr/>
          <p:nvPr/>
        </p:nvSpPr>
        <p:spPr>
          <a:xfrm>
            <a:off x="4780597" y="4678605"/>
            <a:ext cx="22514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VM</a:t>
            </a:r>
            <a:endParaRPr lang="en-US" sz="1950" dirty="0"/>
          </a:p>
        </p:txBody>
      </p:sp>
      <p:sp>
        <p:nvSpPr>
          <p:cNvPr id="113" name="Arrow113"/>
          <p:cNvSpPr/>
          <p:nvPr/>
        </p:nvSpPr>
        <p:spPr>
          <a:xfrm>
            <a:off x="7413070" y="4678605"/>
            <a:ext cx="300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50" dirty="0"/>
          </a:p>
        </p:txBody>
      </p:sp>
      <p:sp>
        <p:nvSpPr>
          <p:cNvPr id="114" name="Box114"/>
          <p:cNvSpPr/>
          <p:nvPr/>
        </p:nvSpPr>
        <p:spPr>
          <a:xfrm>
            <a:off x="7808714" y="4430955"/>
            <a:ext cx="2670453" cy="80010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Label115"/>
          <p:cNvSpPr/>
          <p:nvPr/>
        </p:nvSpPr>
        <p:spPr>
          <a:xfrm>
            <a:off x="8018264" y="4678605"/>
            <a:ext cx="22513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950" dirty="0"/>
          </a:p>
        </p:txBody>
      </p:sp>
      <p:sp>
        <p:nvSpPr>
          <p:cNvPr id="116" name="Arrow116"/>
          <p:cNvSpPr/>
          <p:nvPr/>
        </p:nvSpPr>
        <p:spPr>
          <a:xfrm>
            <a:off x="5756333" y="3959505"/>
            <a:ext cx="300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33500" y="5531055"/>
            <a:ext cx="14358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591389" y="5531055"/>
            <a:ext cx="733770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</a:t>
            </a: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root, health, summary, attribution, budget, and prediction endpoints; health reports degraded status (HTTP 503) if the database, model, or metrics fail to load.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572625" y="5531055"/>
            <a:ext cx="14358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830515" y="5531055"/>
            <a:ext cx="733770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</a:t>
            </a: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calls the API when available and falls back to locally saved artifacts and the serialized model otherwise.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333500" y="7055055"/>
            <a:ext cx="14358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591389" y="7055055"/>
            <a:ext cx="733770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</a:t>
            </a: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with the project's core tables, with integrity verified, plus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automated tests </a:t>
            </a: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data processing, attribution, budget simulation, and the ML pipeline.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572625" y="7055055"/>
            <a:ext cx="14358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830515" y="7055055"/>
            <a:ext cx="733770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</a:t>
            </a: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both services and a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</a:t>
            </a: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compile check → pipeline rebuild → tests → Docker build → Compose smoke test. Deployed to Streamlit Community Cloud.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6255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issues encountered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33500" y="250698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33500" y="3030855"/>
            <a:ext cx="45720" cy="207168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26870" y="3030855"/>
            <a:ext cx="7309961" cy="2109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row-by-row journey reconstruction was slow on the full dataset; replaced with a vectorized pandas approach for a substantial speedup with identical output.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572625" y="3030855"/>
            <a:ext cx="45720" cy="2071688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65995" y="3030855"/>
            <a:ext cx="7309961" cy="2109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conversion model definition did not account for right-censoring — journeys observed too close to the end of the data window had not had time to convert. Corrected with a fixed 7-day horizon and exclusion of snapshots without a complete follow-up window.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333500" y="5521643"/>
            <a:ext cx="45720" cy="16573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26870" y="5521643"/>
            <a:ext cx="7309961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Same-timestamp impressions introduced ordering ambiguity in journey reconstruction and were excluded rather than arbitrarily resolved.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572625" y="5521643"/>
            <a:ext cx="45720" cy="16573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865995" y="5521643"/>
            <a:ext cx="7309961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zero customer overlap across train, validation, and test partitions required splitting at the customer level rather than the snapshot level, since a single customer can contribute multiple snapshots.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5250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424940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33500" y="2506980"/>
            <a:ext cx="15621000" cy="285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33500" y="3107055"/>
            <a:ext cx="32730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870353" y="3107055"/>
            <a:ext cx="14751812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24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results are observational, based on an explicit counterfactual removal rule, not a causal incrementality experiment.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333500" y="4488180"/>
            <a:ext cx="32730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870353" y="4488180"/>
            <a:ext cx="14751812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24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simulation preserves total spend and illustrates attribution-aligned reallocation; it is not a causal ROI optimizer, since the source data contain no spend-response curves or controlled experiments.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1333500" y="5869305"/>
            <a:ext cx="327303" cy="1452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870353" y="5869305"/>
            <a:ext cx="14751812" cy="1452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2475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conversion propensity model's PR-AUC (0.064–0.066) is modest in absolute terms, which is expected given the conversion event is rare (roughly 4%) and the available features describe only channel exposure, not customer demographics, spend, or product-level information.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E607A">
                  <a:alpha val="100000"/>
                </a:srgbClr>
              </a:gs>
              <a:gs pos="45000">
                <a:srgbClr val="44546A">
                  <a:alpha val="100000"/>
                </a:srgbClr>
              </a:gs>
              <a:gs pos="100000">
                <a:srgbClr val="39465A">
                  <a:alpha val="100000"/>
                </a:srgbClr>
              </a:gs>
            </a:gsLst>
            <a:path path="circle">
              <a:fillToRect l="15000" r="85000" b="10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FFC000">
                  <a:alpha val="12000"/>
                </a:srgbClr>
              </a:gs>
              <a:gs pos="70000">
                <a:srgbClr val="FFC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524000" y="70485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4472C4">
                  <a:alpha val="16000"/>
                </a:srgbClr>
              </a:gs>
              <a:gs pos="70000">
                <a:srgbClr val="4472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333500" y="2498408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2970847"/>
            <a:ext cx="171831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1333500" y="4052888"/>
            <a:ext cx="15621000" cy="28575"/>
          </a:xfrm>
          <a:prstGeom prst="rect">
            <a:avLst/>
          </a:prstGeom>
          <a:solidFill>
            <a:srgbClr val="5D6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33500" y="4614863"/>
            <a:ext cx="530855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pts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333500" y="5567363"/>
            <a:ext cx="53085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under-credited by Last-Touch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730961" y="4614863"/>
            <a:ext cx="530855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pts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730961" y="5567363"/>
            <a:ext cx="497073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Video over-credited by a comparable margin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128421" y="4614863"/>
            <a:ext cx="530855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$4,200+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2128421" y="5567363"/>
            <a:ext cx="497073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toward Instagram per $100,000, at the same total spend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33500" y="6817043"/>
            <a:ext cx="1530477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build up across a customer's full journey, not from a single decisive touchpoint, which is why measuring channel performance correctly requires looking at that whole journey rather than only its final step.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BFCFD">
                  <a:alpha val="100000"/>
                </a:srgbClr>
              </a:gs>
              <a:gs pos="55000">
                <a:srgbClr val="EEF1F6">
                  <a:alpha val="100000"/>
                </a:srgbClr>
              </a:gs>
              <a:gs pos="100000">
                <a:srgbClr val="E4E9F1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4097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ED7D31">
                  <a:alpha val="8000"/>
                </a:srgbClr>
              </a:gs>
              <a:gs pos="7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524000" y="70485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4472C4">
                  <a:alpha val="8000"/>
                </a:srgbClr>
              </a:gs>
              <a:gs pos="70000">
                <a:srgbClr val="4472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333500" y="3623310"/>
            <a:ext cx="17183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33500" y="4095750"/>
            <a:ext cx="1143000" cy="7620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33500" y="4629150"/>
            <a:ext cx="17183100" cy="143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1333500" y="6290310"/>
            <a:ext cx="17183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98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Attribution &amp; Budget Intelligence · Final Project Report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032724" y="9624060"/>
            <a:ext cx="7980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B4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1654</TotalTime>
  <Words>2396</Words>
  <Application>Microsoft Office PowerPoint</Application>
  <PresentationFormat>Custom</PresentationFormat>
  <Paragraphs>410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sarath kumar</cp:lastModifiedBy>
  <cp:revision>2</cp:revision>
  <dcterms:created xsi:type="dcterms:W3CDTF">2026-08-14T20:26:09Z</dcterms:created>
  <dcterms:modified xsi:type="dcterms:W3CDTF">2026-08-16T03:40:38Z</dcterms:modified>
</cp:coreProperties>
</file>